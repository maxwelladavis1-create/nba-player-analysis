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790" y="25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DD5249-B474-49DE-8C92-757F5EC3230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0AC70A2-4D04-4DE5-B07B-1DB6A8F6B072}">
      <dgm:prSet/>
      <dgm:spPr/>
      <dgm:t>
        <a:bodyPr/>
        <a:lstStyle/>
        <a:p>
          <a:r>
            <a:rPr lang="en-US" dirty="0"/>
            <a:t>Regression model used PTS as the dependent variable.</a:t>
          </a:r>
        </a:p>
      </dgm:t>
    </dgm:pt>
    <dgm:pt modelId="{31E57EA2-9F99-4F9F-B081-75DBB0CB3E7E}" type="parTrans" cxnId="{4A3734ED-733D-448B-8C0B-27A9FA1BE277}">
      <dgm:prSet/>
      <dgm:spPr/>
      <dgm:t>
        <a:bodyPr/>
        <a:lstStyle/>
        <a:p>
          <a:endParaRPr lang="en-US"/>
        </a:p>
      </dgm:t>
    </dgm:pt>
    <dgm:pt modelId="{7017A487-68C2-4C7A-AD3E-F577DE5AAAB6}" type="sibTrans" cxnId="{4A3734ED-733D-448B-8C0B-27A9FA1BE277}">
      <dgm:prSet/>
      <dgm:spPr/>
      <dgm:t>
        <a:bodyPr/>
        <a:lstStyle/>
        <a:p>
          <a:endParaRPr lang="en-US"/>
        </a:p>
      </dgm:t>
    </dgm:pt>
    <dgm:pt modelId="{35E15A0B-E930-4A55-BD9F-1AE2314F8615}">
      <dgm:prSet/>
      <dgm:spPr/>
      <dgm:t>
        <a:bodyPr/>
        <a:lstStyle/>
        <a:p>
          <a:r>
            <a:rPr lang="en-US"/>
            <a:t>Predictors included:</a:t>
          </a:r>
        </a:p>
      </dgm:t>
    </dgm:pt>
    <dgm:pt modelId="{A4FB688D-0250-4483-9D81-9779377878AF}" type="parTrans" cxnId="{6845AF62-2215-4139-AF3E-06BA7D2AFAEF}">
      <dgm:prSet/>
      <dgm:spPr/>
      <dgm:t>
        <a:bodyPr/>
        <a:lstStyle/>
        <a:p>
          <a:endParaRPr lang="en-US"/>
        </a:p>
      </dgm:t>
    </dgm:pt>
    <dgm:pt modelId="{DE718F14-73A5-42B2-A3B7-45F23351D9E5}" type="sibTrans" cxnId="{6845AF62-2215-4139-AF3E-06BA7D2AFAEF}">
      <dgm:prSet/>
      <dgm:spPr/>
      <dgm:t>
        <a:bodyPr/>
        <a:lstStyle/>
        <a:p>
          <a:endParaRPr lang="en-US"/>
        </a:p>
      </dgm:t>
    </dgm:pt>
    <dgm:pt modelId="{28BC8096-62BD-41F8-84E0-24D784FF4A34}">
      <dgm:prSet/>
      <dgm:spPr/>
      <dgm:t>
        <a:bodyPr/>
        <a:lstStyle/>
        <a:p>
          <a:r>
            <a:rPr lang="en-US"/>
            <a:t>FGA</a:t>
          </a:r>
        </a:p>
      </dgm:t>
    </dgm:pt>
    <dgm:pt modelId="{12918CBE-15B3-43CB-90C1-755329AB392C}" type="parTrans" cxnId="{433848F4-804D-4BB1-BEED-9CA1AA391EA6}">
      <dgm:prSet/>
      <dgm:spPr/>
      <dgm:t>
        <a:bodyPr/>
        <a:lstStyle/>
        <a:p>
          <a:endParaRPr lang="en-US"/>
        </a:p>
      </dgm:t>
    </dgm:pt>
    <dgm:pt modelId="{4E704DE3-F434-4348-B20F-417B0DBD5DA5}" type="sibTrans" cxnId="{433848F4-804D-4BB1-BEED-9CA1AA391EA6}">
      <dgm:prSet/>
      <dgm:spPr/>
      <dgm:t>
        <a:bodyPr/>
        <a:lstStyle/>
        <a:p>
          <a:endParaRPr lang="en-US"/>
        </a:p>
      </dgm:t>
    </dgm:pt>
    <dgm:pt modelId="{241F27D9-1397-438C-9E77-197A94E29152}">
      <dgm:prSet/>
      <dgm:spPr/>
      <dgm:t>
        <a:bodyPr/>
        <a:lstStyle/>
        <a:p>
          <a:r>
            <a:rPr lang="en-US"/>
            <a:t>FG%</a:t>
          </a:r>
        </a:p>
      </dgm:t>
    </dgm:pt>
    <dgm:pt modelId="{5057DDAC-5F56-459D-A983-D5996ECE9ADF}" type="parTrans" cxnId="{FB4F40EA-E20E-4A29-8A9D-11F8DCE44D5C}">
      <dgm:prSet/>
      <dgm:spPr/>
      <dgm:t>
        <a:bodyPr/>
        <a:lstStyle/>
        <a:p>
          <a:endParaRPr lang="en-US"/>
        </a:p>
      </dgm:t>
    </dgm:pt>
    <dgm:pt modelId="{92941CCD-7FF3-4483-AD1D-7246759D72E2}" type="sibTrans" cxnId="{FB4F40EA-E20E-4A29-8A9D-11F8DCE44D5C}">
      <dgm:prSet/>
      <dgm:spPr/>
      <dgm:t>
        <a:bodyPr/>
        <a:lstStyle/>
        <a:p>
          <a:endParaRPr lang="en-US"/>
        </a:p>
      </dgm:t>
    </dgm:pt>
    <dgm:pt modelId="{B7CC2D8A-F55E-4A10-9F65-971C543ABD3A}">
      <dgm:prSet/>
      <dgm:spPr/>
      <dgm:t>
        <a:bodyPr/>
        <a:lstStyle/>
        <a:p>
          <a:r>
            <a:rPr lang="en-US"/>
            <a:t>Free throw attempts</a:t>
          </a:r>
        </a:p>
      </dgm:t>
    </dgm:pt>
    <dgm:pt modelId="{D0F6201F-01F7-48AC-BCD7-3F556A136893}" type="parTrans" cxnId="{865ED7DB-D9A2-4483-A75D-8DD91AFEA65C}">
      <dgm:prSet/>
      <dgm:spPr/>
      <dgm:t>
        <a:bodyPr/>
        <a:lstStyle/>
        <a:p>
          <a:endParaRPr lang="en-US"/>
        </a:p>
      </dgm:t>
    </dgm:pt>
    <dgm:pt modelId="{727B2B76-5A18-4EB5-BC16-DBC2306C2467}" type="sibTrans" cxnId="{865ED7DB-D9A2-4483-A75D-8DD91AFEA65C}">
      <dgm:prSet/>
      <dgm:spPr/>
      <dgm:t>
        <a:bodyPr/>
        <a:lstStyle/>
        <a:p>
          <a:endParaRPr lang="en-US"/>
        </a:p>
      </dgm:t>
    </dgm:pt>
    <dgm:pt modelId="{210FF5FA-D046-4B46-BA55-80F4ECA9D1EE}">
      <dgm:prSet/>
      <dgm:spPr/>
      <dgm:t>
        <a:bodyPr/>
        <a:lstStyle/>
        <a:p>
          <a:r>
            <a:rPr lang="en-US"/>
            <a:t>Minutes played</a:t>
          </a:r>
        </a:p>
      </dgm:t>
    </dgm:pt>
    <dgm:pt modelId="{ACF25E42-8FC0-4D2C-A3F6-FA578A13C870}" type="parTrans" cxnId="{FCCB2764-7230-40DD-A28F-BC21A27686DC}">
      <dgm:prSet/>
      <dgm:spPr/>
      <dgm:t>
        <a:bodyPr/>
        <a:lstStyle/>
        <a:p>
          <a:endParaRPr lang="en-US"/>
        </a:p>
      </dgm:t>
    </dgm:pt>
    <dgm:pt modelId="{9E1017AF-CCB2-4274-8DA2-FBFCE81AE944}" type="sibTrans" cxnId="{FCCB2764-7230-40DD-A28F-BC21A27686DC}">
      <dgm:prSet/>
      <dgm:spPr/>
      <dgm:t>
        <a:bodyPr/>
        <a:lstStyle/>
        <a:p>
          <a:endParaRPr lang="en-US"/>
        </a:p>
      </dgm:t>
    </dgm:pt>
    <dgm:pt modelId="{3D3C9AFA-CE48-4520-9E30-88BC259840B9}">
      <dgm:prSet/>
      <dgm:spPr/>
      <dgm:t>
        <a:bodyPr/>
        <a:lstStyle/>
        <a:p>
          <a:r>
            <a:rPr lang="en-US" dirty="0"/>
            <a:t>Shot attempts and playing time were strong predictors of scoring. R-squared was 0.989 indicating the model was a strong representation with a p value of less than .001 indicating statistical significance.</a:t>
          </a:r>
        </a:p>
      </dgm:t>
    </dgm:pt>
    <dgm:pt modelId="{5ADC5954-9339-415B-8B40-47EB06593382}" type="parTrans" cxnId="{096997DA-F1CD-4C2E-AA67-40E8D2BBB393}">
      <dgm:prSet/>
      <dgm:spPr/>
      <dgm:t>
        <a:bodyPr/>
        <a:lstStyle/>
        <a:p>
          <a:endParaRPr lang="en-US"/>
        </a:p>
      </dgm:t>
    </dgm:pt>
    <dgm:pt modelId="{FA309FEC-C2BD-4477-8F75-11D930ACAC10}" type="sibTrans" cxnId="{096997DA-F1CD-4C2E-AA67-40E8D2BBB393}">
      <dgm:prSet/>
      <dgm:spPr/>
      <dgm:t>
        <a:bodyPr/>
        <a:lstStyle/>
        <a:p>
          <a:endParaRPr lang="en-US"/>
        </a:p>
      </dgm:t>
    </dgm:pt>
    <dgm:pt modelId="{6F8C57E5-A449-4CC5-85E7-069E57E5F948}" type="pres">
      <dgm:prSet presAssocID="{58DD5249-B474-49DE-8C92-757F5EC32305}" presName="root" presStyleCnt="0">
        <dgm:presLayoutVars>
          <dgm:dir/>
          <dgm:resizeHandles val="exact"/>
        </dgm:presLayoutVars>
      </dgm:prSet>
      <dgm:spPr/>
    </dgm:pt>
    <dgm:pt modelId="{94333192-687A-4C51-8D07-880BA6B1E676}" type="pres">
      <dgm:prSet presAssocID="{80AC70A2-4D04-4DE5-B07B-1DB6A8F6B072}" presName="compNode" presStyleCnt="0"/>
      <dgm:spPr/>
    </dgm:pt>
    <dgm:pt modelId="{DDF417E2-21FC-4A49-B902-DD2386E433EA}" type="pres">
      <dgm:prSet presAssocID="{80AC70A2-4D04-4DE5-B07B-1DB6A8F6B072}" presName="bgRect" presStyleLbl="bgShp" presStyleIdx="0" presStyleCnt="3"/>
      <dgm:spPr/>
    </dgm:pt>
    <dgm:pt modelId="{28525595-B961-456A-82BD-D7942C323606}" type="pres">
      <dgm:prSet presAssocID="{80AC70A2-4D04-4DE5-B07B-1DB6A8F6B07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667403D7-9B13-49D1-847F-60585C5FDF86}" type="pres">
      <dgm:prSet presAssocID="{80AC70A2-4D04-4DE5-B07B-1DB6A8F6B072}" presName="spaceRect" presStyleCnt="0"/>
      <dgm:spPr/>
    </dgm:pt>
    <dgm:pt modelId="{6686671C-8723-4112-A940-1FC8825466BE}" type="pres">
      <dgm:prSet presAssocID="{80AC70A2-4D04-4DE5-B07B-1DB6A8F6B072}" presName="parTx" presStyleLbl="revTx" presStyleIdx="0" presStyleCnt="4">
        <dgm:presLayoutVars>
          <dgm:chMax val="0"/>
          <dgm:chPref val="0"/>
        </dgm:presLayoutVars>
      </dgm:prSet>
      <dgm:spPr/>
    </dgm:pt>
    <dgm:pt modelId="{C9701F29-964D-475C-9F91-FF836D49472E}" type="pres">
      <dgm:prSet presAssocID="{7017A487-68C2-4C7A-AD3E-F577DE5AAAB6}" presName="sibTrans" presStyleCnt="0"/>
      <dgm:spPr/>
    </dgm:pt>
    <dgm:pt modelId="{B60C4CC3-2465-4743-B9D1-F2411CFED8BB}" type="pres">
      <dgm:prSet presAssocID="{35E15A0B-E930-4A55-BD9F-1AE2314F8615}" presName="compNode" presStyleCnt="0"/>
      <dgm:spPr/>
    </dgm:pt>
    <dgm:pt modelId="{6FC252BF-8074-4073-819F-BFF7082BF1FA}" type="pres">
      <dgm:prSet presAssocID="{35E15A0B-E930-4A55-BD9F-1AE2314F8615}" presName="bgRect" presStyleLbl="bgShp" presStyleIdx="1" presStyleCnt="3"/>
      <dgm:spPr/>
    </dgm:pt>
    <dgm:pt modelId="{D6ABB070-2EE0-47F7-92F1-3690E5AB66C3}" type="pres">
      <dgm:prSet presAssocID="{35E15A0B-E930-4A55-BD9F-1AE2314F861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laying Cards"/>
        </a:ext>
      </dgm:extLst>
    </dgm:pt>
    <dgm:pt modelId="{D1F90058-FE85-4907-BE94-C1115FED296E}" type="pres">
      <dgm:prSet presAssocID="{35E15A0B-E930-4A55-BD9F-1AE2314F8615}" presName="spaceRect" presStyleCnt="0"/>
      <dgm:spPr/>
    </dgm:pt>
    <dgm:pt modelId="{1187B0AC-2741-497B-B354-004548B6332A}" type="pres">
      <dgm:prSet presAssocID="{35E15A0B-E930-4A55-BD9F-1AE2314F8615}" presName="parTx" presStyleLbl="revTx" presStyleIdx="1" presStyleCnt="4">
        <dgm:presLayoutVars>
          <dgm:chMax val="0"/>
          <dgm:chPref val="0"/>
        </dgm:presLayoutVars>
      </dgm:prSet>
      <dgm:spPr/>
    </dgm:pt>
    <dgm:pt modelId="{B5D41972-E49A-4ABF-A6B9-9FD8A8C595E5}" type="pres">
      <dgm:prSet presAssocID="{35E15A0B-E930-4A55-BD9F-1AE2314F8615}" presName="desTx" presStyleLbl="revTx" presStyleIdx="2" presStyleCnt="4">
        <dgm:presLayoutVars/>
      </dgm:prSet>
      <dgm:spPr/>
    </dgm:pt>
    <dgm:pt modelId="{9AB7C224-105A-4988-8F2E-769C976F020E}" type="pres">
      <dgm:prSet presAssocID="{DE718F14-73A5-42B2-A3B7-45F23351D9E5}" presName="sibTrans" presStyleCnt="0"/>
      <dgm:spPr/>
    </dgm:pt>
    <dgm:pt modelId="{55E87FB1-EC08-440D-90F9-D8A7F6673122}" type="pres">
      <dgm:prSet presAssocID="{3D3C9AFA-CE48-4520-9E30-88BC259840B9}" presName="compNode" presStyleCnt="0"/>
      <dgm:spPr/>
    </dgm:pt>
    <dgm:pt modelId="{DFAD1237-1599-4016-84FA-E63A144BD163}" type="pres">
      <dgm:prSet presAssocID="{3D3C9AFA-CE48-4520-9E30-88BC259840B9}" presName="bgRect" presStyleLbl="bgShp" presStyleIdx="2" presStyleCnt="3"/>
      <dgm:spPr/>
    </dgm:pt>
    <dgm:pt modelId="{0699261A-92E2-4E5B-A4EF-43786915B7B5}" type="pres">
      <dgm:prSet presAssocID="{3D3C9AFA-CE48-4520-9E30-88BC259840B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1A357CEF-1EDB-4EB4-862D-296533CE1542}" type="pres">
      <dgm:prSet presAssocID="{3D3C9AFA-CE48-4520-9E30-88BC259840B9}" presName="spaceRect" presStyleCnt="0"/>
      <dgm:spPr/>
    </dgm:pt>
    <dgm:pt modelId="{DE460018-6A7E-42F7-BFA3-832DDD536C9B}" type="pres">
      <dgm:prSet presAssocID="{3D3C9AFA-CE48-4520-9E30-88BC259840B9}" presName="parTx" presStyleLbl="revTx" presStyleIdx="3" presStyleCnt="4">
        <dgm:presLayoutVars>
          <dgm:chMax val="0"/>
          <dgm:chPref val="0"/>
        </dgm:presLayoutVars>
      </dgm:prSet>
      <dgm:spPr/>
    </dgm:pt>
  </dgm:ptLst>
  <dgm:cxnLst>
    <dgm:cxn modelId="{2265C41E-017D-466A-AC8B-886B856101B0}" type="presOf" srcId="{35E15A0B-E930-4A55-BD9F-1AE2314F8615}" destId="{1187B0AC-2741-497B-B354-004548B6332A}" srcOrd="0" destOrd="0" presId="urn:microsoft.com/office/officeart/2018/2/layout/IconVerticalSolidList"/>
    <dgm:cxn modelId="{1D96442D-7059-4752-B575-5F9F4DEA38F6}" type="presOf" srcId="{210FF5FA-D046-4B46-BA55-80F4ECA9D1EE}" destId="{B5D41972-E49A-4ABF-A6B9-9FD8A8C595E5}" srcOrd="0" destOrd="3" presId="urn:microsoft.com/office/officeart/2018/2/layout/IconVerticalSolidList"/>
    <dgm:cxn modelId="{5BD80531-3F6E-4227-9B56-D17D7B5B5BAB}" type="presOf" srcId="{28BC8096-62BD-41F8-84E0-24D784FF4A34}" destId="{B5D41972-E49A-4ABF-A6B9-9FD8A8C595E5}" srcOrd="0" destOrd="0" presId="urn:microsoft.com/office/officeart/2018/2/layout/IconVerticalSolidList"/>
    <dgm:cxn modelId="{2F063938-86FF-452C-8068-35BDF897B9CE}" type="presOf" srcId="{80AC70A2-4D04-4DE5-B07B-1DB6A8F6B072}" destId="{6686671C-8723-4112-A940-1FC8825466BE}" srcOrd="0" destOrd="0" presId="urn:microsoft.com/office/officeart/2018/2/layout/IconVerticalSolidList"/>
    <dgm:cxn modelId="{6845AF62-2215-4139-AF3E-06BA7D2AFAEF}" srcId="{58DD5249-B474-49DE-8C92-757F5EC32305}" destId="{35E15A0B-E930-4A55-BD9F-1AE2314F8615}" srcOrd="1" destOrd="0" parTransId="{A4FB688D-0250-4483-9D81-9779377878AF}" sibTransId="{DE718F14-73A5-42B2-A3B7-45F23351D9E5}"/>
    <dgm:cxn modelId="{FCCB2764-7230-40DD-A28F-BC21A27686DC}" srcId="{35E15A0B-E930-4A55-BD9F-1AE2314F8615}" destId="{210FF5FA-D046-4B46-BA55-80F4ECA9D1EE}" srcOrd="3" destOrd="0" parTransId="{ACF25E42-8FC0-4D2C-A3F6-FA578A13C870}" sibTransId="{9E1017AF-CCB2-4274-8DA2-FBFCE81AE944}"/>
    <dgm:cxn modelId="{71EBFC5A-446C-4E67-98F5-DD89B2423EE7}" type="presOf" srcId="{58DD5249-B474-49DE-8C92-757F5EC32305}" destId="{6F8C57E5-A449-4CC5-85E7-069E57E5F948}" srcOrd="0" destOrd="0" presId="urn:microsoft.com/office/officeart/2018/2/layout/IconVerticalSolidList"/>
    <dgm:cxn modelId="{C5E4578F-0705-42E6-BD8F-F377C575B200}" type="presOf" srcId="{241F27D9-1397-438C-9E77-197A94E29152}" destId="{B5D41972-E49A-4ABF-A6B9-9FD8A8C595E5}" srcOrd="0" destOrd="1" presId="urn:microsoft.com/office/officeart/2018/2/layout/IconVerticalSolidList"/>
    <dgm:cxn modelId="{096997DA-F1CD-4C2E-AA67-40E8D2BBB393}" srcId="{58DD5249-B474-49DE-8C92-757F5EC32305}" destId="{3D3C9AFA-CE48-4520-9E30-88BC259840B9}" srcOrd="2" destOrd="0" parTransId="{5ADC5954-9339-415B-8B40-47EB06593382}" sibTransId="{FA309FEC-C2BD-4477-8F75-11D930ACAC10}"/>
    <dgm:cxn modelId="{865ED7DB-D9A2-4483-A75D-8DD91AFEA65C}" srcId="{35E15A0B-E930-4A55-BD9F-1AE2314F8615}" destId="{B7CC2D8A-F55E-4A10-9F65-971C543ABD3A}" srcOrd="2" destOrd="0" parTransId="{D0F6201F-01F7-48AC-BCD7-3F556A136893}" sibTransId="{727B2B76-5A18-4EB5-BC16-DBC2306C2467}"/>
    <dgm:cxn modelId="{9C1D33E0-6DB1-4F71-BE39-DA5564FB72EF}" type="presOf" srcId="{B7CC2D8A-F55E-4A10-9F65-971C543ABD3A}" destId="{B5D41972-E49A-4ABF-A6B9-9FD8A8C595E5}" srcOrd="0" destOrd="2" presId="urn:microsoft.com/office/officeart/2018/2/layout/IconVerticalSolidList"/>
    <dgm:cxn modelId="{FB4F40EA-E20E-4A29-8A9D-11F8DCE44D5C}" srcId="{35E15A0B-E930-4A55-BD9F-1AE2314F8615}" destId="{241F27D9-1397-438C-9E77-197A94E29152}" srcOrd="1" destOrd="0" parTransId="{5057DDAC-5F56-459D-A983-D5996ECE9ADF}" sibTransId="{92941CCD-7FF3-4483-AD1D-7246759D72E2}"/>
    <dgm:cxn modelId="{4A3734ED-733D-448B-8C0B-27A9FA1BE277}" srcId="{58DD5249-B474-49DE-8C92-757F5EC32305}" destId="{80AC70A2-4D04-4DE5-B07B-1DB6A8F6B072}" srcOrd="0" destOrd="0" parTransId="{31E57EA2-9F99-4F9F-B081-75DBB0CB3E7E}" sibTransId="{7017A487-68C2-4C7A-AD3E-F577DE5AAAB6}"/>
    <dgm:cxn modelId="{433848F4-804D-4BB1-BEED-9CA1AA391EA6}" srcId="{35E15A0B-E930-4A55-BD9F-1AE2314F8615}" destId="{28BC8096-62BD-41F8-84E0-24D784FF4A34}" srcOrd="0" destOrd="0" parTransId="{12918CBE-15B3-43CB-90C1-755329AB392C}" sibTransId="{4E704DE3-F434-4348-B20F-417B0DBD5DA5}"/>
    <dgm:cxn modelId="{B0A38AF6-AA2B-48F1-B9D0-6AA4BE9FD059}" type="presOf" srcId="{3D3C9AFA-CE48-4520-9E30-88BC259840B9}" destId="{DE460018-6A7E-42F7-BFA3-832DDD536C9B}" srcOrd="0" destOrd="0" presId="urn:microsoft.com/office/officeart/2018/2/layout/IconVerticalSolidList"/>
    <dgm:cxn modelId="{2BA82EE0-A7EF-4205-BB02-5ADBEC0F9CC1}" type="presParOf" srcId="{6F8C57E5-A449-4CC5-85E7-069E57E5F948}" destId="{94333192-687A-4C51-8D07-880BA6B1E676}" srcOrd="0" destOrd="0" presId="urn:microsoft.com/office/officeart/2018/2/layout/IconVerticalSolidList"/>
    <dgm:cxn modelId="{EBFCCF36-CF60-42FF-9E6B-331C6509151A}" type="presParOf" srcId="{94333192-687A-4C51-8D07-880BA6B1E676}" destId="{DDF417E2-21FC-4A49-B902-DD2386E433EA}" srcOrd="0" destOrd="0" presId="urn:microsoft.com/office/officeart/2018/2/layout/IconVerticalSolidList"/>
    <dgm:cxn modelId="{52DC6907-90D7-4EB2-8932-12C12F9851F6}" type="presParOf" srcId="{94333192-687A-4C51-8D07-880BA6B1E676}" destId="{28525595-B961-456A-82BD-D7942C323606}" srcOrd="1" destOrd="0" presId="urn:microsoft.com/office/officeart/2018/2/layout/IconVerticalSolidList"/>
    <dgm:cxn modelId="{D503175D-5C7C-47FF-8364-1DD5816441D1}" type="presParOf" srcId="{94333192-687A-4C51-8D07-880BA6B1E676}" destId="{667403D7-9B13-49D1-847F-60585C5FDF86}" srcOrd="2" destOrd="0" presId="urn:microsoft.com/office/officeart/2018/2/layout/IconVerticalSolidList"/>
    <dgm:cxn modelId="{E3C88161-A119-48E0-8EF1-2718CFF415E6}" type="presParOf" srcId="{94333192-687A-4C51-8D07-880BA6B1E676}" destId="{6686671C-8723-4112-A940-1FC8825466BE}" srcOrd="3" destOrd="0" presId="urn:microsoft.com/office/officeart/2018/2/layout/IconVerticalSolidList"/>
    <dgm:cxn modelId="{452786DC-ABAE-4C0B-9B71-3244605AB602}" type="presParOf" srcId="{6F8C57E5-A449-4CC5-85E7-069E57E5F948}" destId="{C9701F29-964D-475C-9F91-FF836D49472E}" srcOrd="1" destOrd="0" presId="urn:microsoft.com/office/officeart/2018/2/layout/IconVerticalSolidList"/>
    <dgm:cxn modelId="{42412A04-5B66-4BFA-B374-3576E7C968B2}" type="presParOf" srcId="{6F8C57E5-A449-4CC5-85E7-069E57E5F948}" destId="{B60C4CC3-2465-4743-B9D1-F2411CFED8BB}" srcOrd="2" destOrd="0" presId="urn:microsoft.com/office/officeart/2018/2/layout/IconVerticalSolidList"/>
    <dgm:cxn modelId="{2B6C7C30-CBC3-4B7E-9507-3176ADC6B830}" type="presParOf" srcId="{B60C4CC3-2465-4743-B9D1-F2411CFED8BB}" destId="{6FC252BF-8074-4073-819F-BFF7082BF1FA}" srcOrd="0" destOrd="0" presId="urn:microsoft.com/office/officeart/2018/2/layout/IconVerticalSolidList"/>
    <dgm:cxn modelId="{171CA2C0-B781-4E1C-AE59-5E4AD5BF42C3}" type="presParOf" srcId="{B60C4CC3-2465-4743-B9D1-F2411CFED8BB}" destId="{D6ABB070-2EE0-47F7-92F1-3690E5AB66C3}" srcOrd="1" destOrd="0" presId="urn:microsoft.com/office/officeart/2018/2/layout/IconVerticalSolidList"/>
    <dgm:cxn modelId="{047B2D61-37C6-432F-8C65-627BD6CACBA4}" type="presParOf" srcId="{B60C4CC3-2465-4743-B9D1-F2411CFED8BB}" destId="{D1F90058-FE85-4907-BE94-C1115FED296E}" srcOrd="2" destOrd="0" presId="urn:microsoft.com/office/officeart/2018/2/layout/IconVerticalSolidList"/>
    <dgm:cxn modelId="{3DD22B9F-0E84-48D9-B170-9D42E9E3D2DA}" type="presParOf" srcId="{B60C4CC3-2465-4743-B9D1-F2411CFED8BB}" destId="{1187B0AC-2741-497B-B354-004548B6332A}" srcOrd="3" destOrd="0" presId="urn:microsoft.com/office/officeart/2018/2/layout/IconVerticalSolidList"/>
    <dgm:cxn modelId="{BAD853C8-70F4-42F9-8E91-9FA4378F09E8}" type="presParOf" srcId="{B60C4CC3-2465-4743-B9D1-F2411CFED8BB}" destId="{B5D41972-E49A-4ABF-A6B9-9FD8A8C595E5}" srcOrd="4" destOrd="0" presId="urn:microsoft.com/office/officeart/2018/2/layout/IconVerticalSolidList"/>
    <dgm:cxn modelId="{C8F4EF50-5788-4B14-98F0-5A573A3C1F35}" type="presParOf" srcId="{6F8C57E5-A449-4CC5-85E7-069E57E5F948}" destId="{9AB7C224-105A-4988-8F2E-769C976F020E}" srcOrd="3" destOrd="0" presId="urn:microsoft.com/office/officeart/2018/2/layout/IconVerticalSolidList"/>
    <dgm:cxn modelId="{A8F4354F-F43C-4A74-9B67-AB1CA6BF07A7}" type="presParOf" srcId="{6F8C57E5-A449-4CC5-85E7-069E57E5F948}" destId="{55E87FB1-EC08-440D-90F9-D8A7F6673122}" srcOrd="4" destOrd="0" presId="urn:microsoft.com/office/officeart/2018/2/layout/IconVerticalSolidList"/>
    <dgm:cxn modelId="{B5EEF815-CB48-45FE-904D-4ABAFF2ACA5A}" type="presParOf" srcId="{55E87FB1-EC08-440D-90F9-D8A7F6673122}" destId="{DFAD1237-1599-4016-84FA-E63A144BD163}" srcOrd="0" destOrd="0" presId="urn:microsoft.com/office/officeart/2018/2/layout/IconVerticalSolidList"/>
    <dgm:cxn modelId="{7F766F00-E4CF-4023-ADC0-DAD50C16E974}" type="presParOf" srcId="{55E87FB1-EC08-440D-90F9-D8A7F6673122}" destId="{0699261A-92E2-4E5B-A4EF-43786915B7B5}" srcOrd="1" destOrd="0" presId="urn:microsoft.com/office/officeart/2018/2/layout/IconVerticalSolidList"/>
    <dgm:cxn modelId="{203350B8-C9B6-48A5-A8E1-6F5EA1117173}" type="presParOf" srcId="{55E87FB1-EC08-440D-90F9-D8A7F6673122}" destId="{1A357CEF-1EDB-4EB4-862D-296533CE1542}" srcOrd="2" destOrd="0" presId="urn:microsoft.com/office/officeart/2018/2/layout/IconVerticalSolidList"/>
    <dgm:cxn modelId="{D79D2168-803D-4135-8C91-46A8066F4C58}" type="presParOf" srcId="{55E87FB1-EC08-440D-90F9-D8A7F6673122}" destId="{DE460018-6A7E-42F7-BFA3-832DDD536C9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870A95F-131E-4EC5-994B-12D60DA9CD2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E235D9C-2D18-46EF-B2C9-03489E9A23E2}">
      <dgm:prSet/>
      <dgm:spPr/>
      <dgm:t>
        <a:bodyPr/>
        <a:lstStyle/>
        <a:p>
          <a:r>
            <a:rPr lang="en-US" dirty="0"/>
            <a:t>NBA scoring is primarily driven by shot volume and playing time. Confidence and the “green light” can help drive higher scoring numbers, which is further proven by the next point which is high usage.</a:t>
          </a:r>
        </a:p>
      </dgm:t>
    </dgm:pt>
    <dgm:pt modelId="{08329085-C275-47A7-B872-D17A61EC8198}" type="parTrans" cxnId="{5383EC69-9433-40DB-8B27-00F9FAA4386B}">
      <dgm:prSet/>
      <dgm:spPr/>
      <dgm:t>
        <a:bodyPr/>
        <a:lstStyle/>
        <a:p>
          <a:endParaRPr lang="en-US"/>
        </a:p>
      </dgm:t>
    </dgm:pt>
    <dgm:pt modelId="{1D320130-0F57-4D9C-8174-FB620F10E79D}" type="sibTrans" cxnId="{5383EC69-9433-40DB-8B27-00F9FAA4386B}">
      <dgm:prSet/>
      <dgm:spPr/>
      <dgm:t>
        <a:bodyPr/>
        <a:lstStyle/>
        <a:p>
          <a:endParaRPr lang="en-US"/>
        </a:p>
      </dgm:t>
    </dgm:pt>
    <dgm:pt modelId="{4E11D35C-A8A3-4D1E-B28E-245663FC3919}">
      <dgm:prSet/>
      <dgm:spPr/>
      <dgm:t>
        <a:bodyPr/>
        <a:lstStyle/>
        <a:p>
          <a:r>
            <a:rPr lang="en-US" dirty="0"/>
            <a:t>Teams seeking high scorers should prioritize players with high usage rates (Players spending more time with he ball in their hands).</a:t>
          </a:r>
        </a:p>
      </dgm:t>
    </dgm:pt>
    <dgm:pt modelId="{D4E07F60-42FC-4C3C-9CA7-9C474086455A}" type="parTrans" cxnId="{523507C3-9FB1-4E48-8192-FF0D7ABD6AB6}">
      <dgm:prSet/>
      <dgm:spPr/>
      <dgm:t>
        <a:bodyPr/>
        <a:lstStyle/>
        <a:p>
          <a:endParaRPr lang="en-US"/>
        </a:p>
      </dgm:t>
    </dgm:pt>
    <dgm:pt modelId="{617B237A-B9D4-442F-BB76-9A807D28F6D0}" type="sibTrans" cxnId="{523507C3-9FB1-4E48-8192-FF0D7ABD6AB6}">
      <dgm:prSet/>
      <dgm:spPr/>
      <dgm:t>
        <a:bodyPr/>
        <a:lstStyle/>
        <a:p>
          <a:endParaRPr lang="en-US"/>
        </a:p>
      </dgm:t>
    </dgm:pt>
    <dgm:pt modelId="{6CA8CD9C-3466-4B3A-9BBD-BC90D7591623}">
      <dgm:prSet/>
      <dgm:spPr/>
      <dgm:t>
        <a:bodyPr/>
        <a:lstStyle/>
        <a:p>
          <a:r>
            <a:rPr lang="en-US" dirty="0"/>
            <a:t>Efficiency metrics help identify undervalued players who score effectively with fewer attempts. These players may not score as much but are effective when used and could likely cost less for teams to sign. These could be developing stars that do not yet dominate their teams but play well.</a:t>
          </a:r>
        </a:p>
      </dgm:t>
    </dgm:pt>
    <dgm:pt modelId="{E437044C-377D-47F4-85C6-95CCD45039E8}" type="parTrans" cxnId="{BEDFFF4F-0D40-4D85-A109-E47F8C3856AC}">
      <dgm:prSet/>
      <dgm:spPr/>
      <dgm:t>
        <a:bodyPr/>
        <a:lstStyle/>
        <a:p>
          <a:endParaRPr lang="en-US"/>
        </a:p>
      </dgm:t>
    </dgm:pt>
    <dgm:pt modelId="{BA70C8AE-BC3F-4482-9CE2-832639F38ED2}" type="sibTrans" cxnId="{BEDFFF4F-0D40-4D85-A109-E47F8C3856AC}">
      <dgm:prSet/>
      <dgm:spPr/>
      <dgm:t>
        <a:bodyPr/>
        <a:lstStyle/>
        <a:p>
          <a:endParaRPr lang="en-US"/>
        </a:p>
      </dgm:t>
    </dgm:pt>
    <dgm:pt modelId="{95AC7568-40E8-4D43-9912-BD7CECD04455}" type="pres">
      <dgm:prSet presAssocID="{E870A95F-131E-4EC5-994B-12D60DA9CD2F}" presName="root" presStyleCnt="0">
        <dgm:presLayoutVars>
          <dgm:dir/>
          <dgm:resizeHandles val="exact"/>
        </dgm:presLayoutVars>
      </dgm:prSet>
      <dgm:spPr/>
    </dgm:pt>
    <dgm:pt modelId="{6776C1C5-DDCD-4DF1-854D-9FC06D0C7D4F}" type="pres">
      <dgm:prSet presAssocID="{1E235D9C-2D18-46EF-B2C9-03489E9A23E2}" presName="compNode" presStyleCnt="0"/>
      <dgm:spPr/>
    </dgm:pt>
    <dgm:pt modelId="{992AEF56-F9EE-4121-84B5-3548F3BF19BE}" type="pres">
      <dgm:prSet presAssocID="{1E235D9C-2D18-46EF-B2C9-03489E9A23E2}"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ketball"/>
        </a:ext>
      </dgm:extLst>
    </dgm:pt>
    <dgm:pt modelId="{0512F93E-FE50-40EE-86C7-A56232FA7F3B}" type="pres">
      <dgm:prSet presAssocID="{1E235D9C-2D18-46EF-B2C9-03489E9A23E2}" presName="spaceRect" presStyleCnt="0"/>
      <dgm:spPr/>
    </dgm:pt>
    <dgm:pt modelId="{8B3B77C2-199C-452D-B6A2-8C9982AA2E54}" type="pres">
      <dgm:prSet presAssocID="{1E235D9C-2D18-46EF-B2C9-03489E9A23E2}" presName="textRect" presStyleLbl="revTx" presStyleIdx="0" presStyleCnt="3">
        <dgm:presLayoutVars>
          <dgm:chMax val="1"/>
          <dgm:chPref val="1"/>
        </dgm:presLayoutVars>
      </dgm:prSet>
      <dgm:spPr/>
    </dgm:pt>
    <dgm:pt modelId="{FD073710-F19E-4B03-B4E0-D3EDF6C1BFBE}" type="pres">
      <dgm:prSet presAssocID="{1D320130-0F57-4D9C-8174-FB620F10E79D}" presName="sibTrans" presStyleCnt="0"/>
      <dgm:spPr/>
    </dgm:pt>
    <dgm:pt modelId="{1EDBD4B8-8FC1-48AC-87DC-692F26CD027D}" type="pres">
      <dgm:prSet presAssocID="{4E11D35C-A8A3-4D1E-B28E-245663FC3919}" presName="compNode" presStyleCnt="0"/>
      <dgm:spPr/>
    </dgm:pt>
    <dgm:pt modelId="{B1C24B26-3B4C-48A9-A4EE-1D204659922F}" type="pres">
      <dgm:prSet presAssocID="{4E11D35C-A8A3-4D1E-B28E-245663FC391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of People"/>
        </a:ext>
      </dgm:extLst>
    </dgm:pt>
    <dgm:pt modelId="{AE6D41E8-EBE2-4389-92CA-55B68091BD21}" type="pres">
      <dgm:prSet presAssocID="{4E11D35C-A8A3-4D1E-B28E-245663FC3919}" presName="spaceRect" presStyleCnt="0"/>
      <dgm:spPr/>
    </dgm:pt>
    <dgm:pt modelId="{42BD40D7-7F74-4E6F-836F-D4AD60BEDCA9}" type="pres">
      <dgm:prSet presAssocID="{4E11D35C-A8A3-4D1E-B28E-245663FC3919}" presName="textRect" presStyleLbl="revTx" presStyleIdx="1" presStyleCnt="3">
        <dgm:presLayoutVars>
          <dgm:chMax val="1"/>
          <dgm:chPref val="1"/>
        </dgm:presLayoutVars>
      </dgm:prSet>
      <dgm:spPr/>
    </dgm:pt>
    <dgm:pt modelId="{CD6DCFA0-69D0-41DB-9A3E-DF9304AC59CC}" type="pres">
      <dgm:prSet presAssocID="{617B237A-B9D4-442F-BB76-9A807D28F6D0}" presName="sibTrans" presStyleCnt="0"/>
      <dgm:spPr/>
    </dgm:pt>
    <dgm:pt modelId="{E1CEC18F-8A61-4970-B111-1686D1A5A4A9}" type="pres">
      <dgm:prSet presAssocID="{6CA8CD9C-3466-4B3A-9BBD-BC90D7591623}" presName="compNode" presStyleCnt="0"/>
      <dgm:spPr/>
    </dgm:pt>
    <dgm:pt modelId="{93D5D663-A0C9-4282-9C85-F9319D1FF20A}" type="pres">
      <dgm:prSet presAssocID="{6CA8CD9C-3466-4B3A-9BBD-BC90D759162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29FAB0C5-9B53-4140-9A9B-096E721454FA}" type="pres">
      <dgm:prSet presAssocID="{6CA8CD9C-3466-4B3A-9BBD-BC90D7591623}" presName="spaceRect" presStyleCnt="0"/>
      <dgm:spPr/>
    </dgm:pt>
    <dgm:pt modelId="{AE2F7FA0-E44E-4E19-9DB8-603725E43922}" type="pres">
      <dgm:prSet presAssocID="{6CA8CD9C-3466-4B3A-9BBD-BC90D7591623}" presName="textRect" presStyleLbl="revTx" presStyleIdx="2" presStyleCnt="3">
        <dgm:presLayoutVars>
          <dgm:chMax val="1"/>
          <dgm:chPref val="1"/>
        </dgm:presLayoutVars>
      </dgm:prSet>
      <dgm:spPr/>
    </dgm:pt>
  </dgm:ptLst>
  <dgm:cxnLst>
    <dgm:cxn modelId="{5383EC69-9433-40DB-8B27-00F9FAA4386B}" srcId="{E870A95F-131E-4EC5-994B-12D60DA9CD2F}" destId="{1E235D9C-2D18-46EF-B2C9-03489E9A23E2}" srcOrd="0" destOrd="0" parTransId="{08329085-C275-47A7-B872-D17A61EC8198}" sibTransId="{1D320130-0F57-4D9C-8174-FB620F10E79D}"/>
    <dgm:cxn modelId="{BEDFFF4F-0D40-4D85-A109-E47F8C3856AC}" srcId="{E870A95F-131E-4EC5-994B-12D60DA9CD2F}" destId="{6CA8CD9C-3466-4B3A-9BBD-BC90D7591623}" srcOrd="2" destOrd="0" parTransId="{E437044C-377D-47F4-85C6-95CCD45039E8}" sibTransId="{BA70C8AE-BC3F-4482-9CE2-832639F38ED2}"/>
    <dgm:cxn modelId="{960A4B8E-DE99-4990-822B-A6B57E6B1F06}" type="presOf" srcId="{4E11D35C-A8A3-4D1E-B28E-245663FC3919}" destId="{42BD40D7-7F74-4E6F-836F-D4AD60BEDCA9}" srcOrd="0" destOrd="0" presId="urn:microsoft.com/office/officeart/2018/2/layout/IconLabelList"/>
    <dgm:cxn modelId="{88BE8592-3752-46B6-8FD1-92A9C0462414}" type="presOf" srcId="{6CA8CD9C-3466-4B3A-9BBD-BC90D7591623}" destId="{AE2F7FA0-E44E-4E19-9DB8-603725E43922}" srcOrd="0" destOrd="0" presId="urn:microsoft.com/office/officeart/2018/2/layout/IconLabelList"/>
    <dgm:cxn modelId="{523507C3-9FB1-4E48-8192-FF0D7ABD6AB6}" srcId="{E870A95F-131E-4EC5-994B-12D60DA9CD2F}" destId="{4E11D35C-A8A3-4D1E-B28E-245663FC3919}" srcOrd="1" destOrd="0" parTransId="{D4E07F60-42FC-4C3C-9CA7-9C474086455A}" sibTransId="{617B237A-B9D4-442F-BB76-9A807D28F6D0}"/>
    <dgm:cxn modelId="{4AEC13E2-32A2-46FA-9968-2E715228893F}" type="presOf" srcId="{E870A95F-131E-4EC5-994B-12D60DA9CD2F}" destId="{95AC7568-40E8-4D43-9912-BD7CECD04455}" srcOrd="0" destOrd="0" presId="urn:microsoft.com/office/officeart/2018/2/layout/IconLabelList"/>
    <dgm:cxn modelId="{82E88BF2-426C-4F33-8AE4-DC47CE46149D}" type="presOf" srcId="{1E235D9C-2D18-46EF-B2C9-03489E9A23E2}" destId="{8B3B77C2-199C-452D-B6A2-8C9982AA2E54}" srcOrd="0" destOrd="0" presId="urn:microsoft.com/office/officeart/2018/2/layout/IconLabelList"/>
    <dgm:cxn modelId="{E025133B-80E6-48DD-B0B4-A97843831B9E}" type="presParOf" srcId="{95AC7568-40E8-4D43-9912-BD7CECD04455}" destId="{6776C1C5-DDCD-4DF1-854D-9FC06D0C7D4F}" srcOrd="0" destOrd="0" presId="urn:microsoft.com/office/officeart/2018/2/layout/IconLabelList"/>
    <dgm:cxn modelId="{188E1B64-F0AB-4C16-A501-A053513D0C32}" type="presParOf" srcId="{6776C1C5-DDCD-4DF1-854D-9FC06D0C7D4F}" destId="{992AEF56-F9EE-4121-84B5-3548F3BF19BE}" srcOrd="0" destOrd="0" presId="urn:microsoft.com/office/officeart/2018/2/layout/IconLabelList"/>
    <dgm:cxn modelId="{B3D67364-F4DA-44FA-B3B4-E21DEE815F4F}" type="presParOf" srcId="{6776C1C5-DDCD-4DF1-854D-9FC06D0C7D4F}" destId="{0512F93E-FE50-40EE-86C7-A56232FA7F3B}" srcOrd="1" destOrd="0" presId="urn:microsoft.com/office/officeart/2018/2/layout/IconLabelList"/>
    <dgm:cxn modelId="{A1345D14-E0AC-4535-9567-AC8C9F33AF72}" type="presParOf" srcId="{6776C1C5-DDCD-4DF1-854D-9FC06D0C7D4F}" destId="{8B3B77C2-199C-452D-B6A2-8C9982AA2E54}" srcOrd="2" destOrd="0" presId="urn:microsoft.com/office/officeart/2018/2/layout/IconLabelList"/>
    <dgm:cxn modelId="{F26654A7-B3F0-4910-B6CB-AC03D1CB1402}" type="presParOf" srcId="{95AC7568-40E8-4D43-9912-BD7CECD04455}" destId="{FD073710-F19E-4B03-B4E0-D3EDF6C1BFBE}" srcOrd="1" destOrd="0" presId="urn:microsoft.com/office/officeart/2018/2/layout/IconLabelList"/>
    <dgm:cxn modelId="{03FCA857-17A6-4802-9951-24082758B6D4}" type="presParOf" srcId="{95AC7568-40E8-4D43-9912-BD7CECD04455}" destId="{1EDBD4B8-8FC1-48AC-87DC-692F26CD027D}" srcOrd="2" destOrd="0" presId="urn:microsoft.com/office/officeart/2018/2/layout/IconLabelList"/>
    <dgm:cxn modelId="{FAE50048-FA7F-44B5-8CF6-6BB03A73E451}" type="presParOf" srcId="{1EDBD4B8-8FC1-48AC-87DC-692F26CD027D}" destId="{B1C24B26-3B4C-48A9-A4EE-1D204659922F}" srcOrd="0" destOrd="0" presId="urn:microsoft.com/office/officeart/2018/2/layout/IconLabelList"/>
    <dgm:cxn modelId="{8F9DDC28-104E-498C-A3EE-37385EBF25A2}" type="presParOf" srcId="{1EDBD4B8-8FC1-48AC-87DC-692F26CD027D}" destId="{AE6D41E8-EBE2-4389-92CA-55B68091BD21}" srcOrd="1" destOrd="0" presId="urn:microsoft.com/office/officeart/2018/2/layout/IconLabelList"/>
    <dgm:cxn modelId="{5B003779-C004-4A9C-8E93-EB67B319D303}" type="presParOf" srcId="{1EDBD4B8-8FC1-48AC-87DC-692F26CD027D}" destId="{42BD40D7-7F74-4E6F-836F-D4AD60BEDCA9}" srcOrd="2" destOrd="0" presId="urn:microsoft.com/office/officeart/2018/2/layout/IconLabelList"/>
    <dgm:cxn modelId="{BDF05CAA-E8DD-4032-8374-D8844FA75390}" type="presParOf" srcId="{95AC7568-40E8-4D43-9912-BD7CECD04455}" destId="{CD6DCFA0-69D0-41DB-9A3E-DF9304AC59CC}" srcOrd="3" destOrd="0" presId="urn:microsoft.com/office/officeart/2018/2/layout/IconLabelList"/>
    <dgm:cxn modelId="{50A48F2C-D9E4-4463-A9A3-A5D86A25277A}" type="presParOf" srcId="{95AC7568-40E8-4D43-9912-BD7CECD04455}" destId="{E1CEC18F-8A61-4970-B111-1686D1A5A4A9}" srcOrd="4" destOrd="0" presId="urn:microsoft.com/office/officeart/2018/2/layout/IconLabelList"/>
    <dgm:cxn modelId="{5B683D7D-54D3-4C52-B1C0-6D4F89208428}" type="presParOf" srcId="{E1CEC18F-8A61-4970-B111-1686D1A5A4A9}" destId="{93D5D663-A0C9-4282-9C85-F9319D1FF20A}" srcOrd="0" destOrd="0" presId="urn:microsoft.com/office/officeart/2018/2/layout/IconLabelList"/>
    <dgm:cxn modelId="{7EB8F2CB-8726-43AD-96DD-0FC23F8C34A9}" type="presParOf" srcId="{E1CEC18F-8A61-4970-B111-1686D1A5A4A9}" destId="{29FAB0C5-9B53-4140-9A9B-096E721454FA}" srcOrd="1" destOrd="0" presId="urn:microsoft.com/office/officeart/2018/2/layout/IconLabelList"/>
    <dgm:cxn modelId="{47F54063-A080-48D6-91F5-C05B76093468}" type="presParOf" srcId="{E1CEC18F-8A61-4970-B111-1686D1A5A4A9}" destId="{AE2F7FA0-E44E-4E19-9DB8-603725E4392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417E2-21FC-4A49-B902-DD2386E433EA}">
      <dsp:nvSpPr>
        <dsp:cNvPr id="0" name=""/>
        <dsp:cNvSpPr/>
      </dsp:nvSpPr>
      <dsp:spPr>
        <a:xfrm>
          <a:off x="0" y="499"/>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25595-B961-456A-82BD-D7942C323606}">
      <dsp:nvSpPr>
        <dsp:cNvPr id="0" name=""/>
        <dsp:cNvSpPr/>
      </dsp:nvSpPr>
      <dsp:spPr>
        <a:xfrm>
          <a:off x="353707" y="263587"/>
          <a:ext cx="643104" cy="643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686671C-8723-4112-A940-1FC8825466BE}">
      <dsp:nvSpPr>
        <dsp:cNvPr id="0" name=""/>
        <dsp:cNvSpPr/>
      </dsp:nvSpPr>
      <dsp:spPr>
        <a:xfrm>
          <a:off x="1350519" y="499"/>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dirty="0"/>
            <a:t>Regression model used PTS as the dependent variable.</a:t>
          </a:r>
        </a:p>
      </dsp:txBody>
      <dsp:txXfrm>
        <a:off x="1350519" y="499"/>
        <a:ext cx="5863080" cy="1169280"/>
      </dsp:txXfrm>
    </dsp:sp>
    <dsp:sp modelId="{6FC252BF-8074-4073-819F-BFF7082BF1FA}">
      <dsp:nvSpPr>
        <dsp:cNvPr id="0" name=""/>
        <dsp:cNvSpPr/>
      </dsp:nvSpPr>
      <dsp:spPr>
        <a:xfrm>
          <a:off x="0" y="1462100"/>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ABB070-2EE0-47F7-92F1-3690E5AB66C3}">
      <dsp:nvSpPr>
        <dsp:cNvPr id="0" name=""/>
        <dsp:cNvSpPr/>
      </dsp:nvSpPr>
      <dsp:spPr>
        <a:xfrm>
          <a:off x="353707" y="1725188"/>
          <a:ext cx="643104" cy="643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187B0AC-2741-497B-B354-004548B6332A}">
      <dsp:nvSpPr>
        <dsp:cNvPr id="0" name=""/>
        <dsp:cNvSpPr/>
      </dsp:nvSpPr>
      <dsp:spPr>
        <a:xfrm>
          <a:off x="1350519" y="1462100"/>
          <a:ext cx="324612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a:t>Predictors included:</a:t>
          </a:r>
        </a:p>
      </dsp:txBody>
      <dsp:txXfrm>
        <a:off x="1350519" y="1462100"/>
        <a:ext cx="3246120" cy="1169280"/>
      </dsp:txXfrm>
    </dsp:sp>
    <dsp:sp modelId="{B5D41972-E49A-4ABF-A6B9-9FD8A8C595E5}">
      <dsp:nvSpPr>
        <dsp:cNvPr id="0" name=""/>
        <dsp:cNvSpPr/>
      </dsp:nvSpPr>
      <dsp:spPr>
        <a:xfrm>
          <a:off x="4596639" y="1462100"/>
          <a:ext cx="261696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577850">
            <a:lnSpc>
              <a:spcPct val="90000"/>
            </a:lnSpc>
            <a:spcBef>
              <a:spcPct val="0"/>
            </a:spcBef>
            <a:spcAft>
              <a:spcPct val="35000"/>
            </a:spcAft>
            <a:buNone/>
          </a:pPr>
          <a:r>
            <a:rPr lang="en-US" sz="1300" kern="1200"/>
            <a:t>FGA</a:t>
          </a:r>
        </a:p>
        <a:p>
          <a:pPr marL="0" lvl="0" indent="0" algn="l" defTabSz="577850">
            <a:lnSpc>
              <a:spcPct val="90000"/>
            </a:lnSpc>
            <a:spcBef>
              <a:spcPct val="0"/>
            </a:spcBef>
            <a:spcAft>
              <a:spcPct val="35000"/>
            </a:spcAft>
            <a:buNone/>
          </a:pPr>
          <a:r>
            <a:rPr lang="en-US" sz="1300" kern="1200"/>
            <a:t>FG%</a:t>
          </a:r>
        </a:p>
        <a:p>
          <a:pPr marL="0" lvl="0" indent="0" algn="l" defTabSz="577850">
            <a:lnSpc>
              <a:spcPct val="90000"/>
            </a:lnSpc>
            <a:spcBef>
              <a:spcPct val="0"/>
            </a:spcBef>
            <a:spcAft>
              <a:spcPct val="35000"/>
            </a:spcAft>
            <a:buNone/>
          </a:pPr>
          <a:r>
            <a:rPr lang="en-US" sz="1300" kern="1200"/>
            <a:t>Free throw attempts</a:t>
          </a:r>
        </a:p>
        <a:p>
          <a:pPr marL="0" lvl="0" indent="0" algn="l" defTabSz="577850">
            <a:lnSpc>
              <a:spcPct val="90000"/>
            </a:lnSpc>
            <a:spcBef>
              <a:spcPct val="0"/>
            </a:spcBef>
            <a:spcAft>
              <a:spcPct val="35000"/>
            </a:spcAft>
            <a:buNone/>
          </a:pPr>
          <a:r>
            <a:rPr lang="en-US" sz="1300" kern="1200"/>
            <a:t>Minutes played</a:t>
          </a:r>
        </a:p>
      </dsp:txBody>
      <dsp:txXfrm>
        <a:off x="4596639" y="1462100"/>
        <a:ext cx="2616960" cy="1169280"/>
      </dsp:txXfrm>
    </dsp:sp>
    <dsp:sp modelId="{DFAD1237-1599-4016-84FA-E63A144BD163}">
      <dsp:nvSpPr>
        <dsp:cNvPr id="0" name=""/>
        <dsp:cNvSpPr/>
      </dsp:nvSpPr>
      <dsp:spPr>
        <a:xfrm>
          <a:off x="0" y="2923701"/>
          <a:ext cx="7213600" cy="116928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99261A-92E2-4E5B-A4EF-43786915B7B5}">
      <dsp:nvSpPr>
        <dsp:cNvPr id="0" name=""/>
        <dsp:cNvSpPr/>
      </dsp:nvSpPr>
      <dsp:spPr>
        <a:xfrm>
          <a:off x="353707" y="3186789"/>
          <a:ext cx="643104" cy="643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E460018-6A7E-42F7-BFA3-832DDD536C9B}">
      <dsp:nvSpPr>
        <dsp:cNvPr id="0" name=""/>
        <dsp:cNvSpPr/>
      </dsp:nvSpPr>
      <dsp:spPr>
        <a:xfrm>
          <a:off x="1350519" y="2923701"/>
          <a:ext cx="5863080"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755650">
            <a:lnSpc>
              <a:spcPct val="90000"/>
            </a:lnSpc>
            <a:spcBef>
              <a:spcPct val="0"/>
            </a:spcBef>
            <a:spcAft>
              <a:spcPct val="35000"/>
            </a:spcAft>
            <a:buNone/>
          </a:pPr>
          <a:r>
            <a:rPr lang="en-US" sz="1700" kern="1200" dirty="0"/>
            <a:t>Shot attempts and playing time were strong predictors of scoring. R-squared was 0.989 indicating the model was a strong representation with a p value of less than .001 indicating statistical significance.</a:t>
          </a:r>
        </a:p>
      </dsp:txBody>
      <dsp:txXfrm>
        <a:off x="1350519" y="2923701"/>
        <a:ext cx="5863080" cy="11692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AEF56-F9EE-4121-84B5-3548F3BF19BE}">
      <dsp:nvSpPr>
        <dsp:cNvPr id="0" name=""/>
        <dsp:cNvSpPr/>
      </dsp:nvSpPr>
      <dsp:spPr>
        <a:xfrm>
          <a:off x="613109" y="613771"/>
          <a:ext cx="962257" cy="962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B3B77C2-199C-452D-B6A2-8C9982AA2E54}">
      <dsp:nvSpPr>
        <dsp:cNvPr id="0" name=""/>
        <dsp:cNvSpPr/>
      </dsp:nvSpPr>
      <dsp:spPr>
        <a:xfrm>
          <a:off x="25063" y="2006048"/>
          <a:ext cx="2138350" cy="1473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NBA scoring is primarily driven by shot volume and playing time. Confidence and the “green light” can help drive higher scoring numbers, which is further proven by the next point which is high usage.</a:t>
          </a:r>
        </a:p>
      </dsp:txBody>
      <dsp:txXfrm>
        <a:off x="25063" y="2006048"/>
        <a:ext cx="2138350" cy="1473662"/>
      </dsp:txXfrm>
    </dsp:sp>
    <dsp:sp modelId="{B1C24B26-3B4C-48A9-A4EE-1D204659922F}">
      <dsp:nvSpPr>
        <dsp:cNvPr id="0" name=""/>
        <dsp:cNvSpPr/>
      </dsp:nvSpPr>
      <dsp:spPr>
        <a:xfrm>
          <a:off x="3125671" y="613771"/>
          <a:ext cx="962257" cy="962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2BD40D7-7F74-4E6F-836F-D4AD60BEDCA9}">
      <dsp:nvSpPr>
        <dsp:cNvPr id="0" name=""/>
        <dsp:cNvSpPr/>
      </dsp:nvSpPr>
      <dsp:spPr>
        <a:xfrm>
          <a:off x="2537625" y="2006048"/>
          <a:ext cx="2138350" cy="1473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Teams seeking high scorers should prioritize players with high usage rates (Players spending more time with he ball in their hands).</a:t>
          </a:r>
        </a:p>
      </dsp:txBody>
      <dsp:txXfrm>
        <a:off x="2537625" y="2006048"/>
        <a:ext cx="2138350" cy="1473662"/>
      </dsp:txXfrm>
    </dsp:sp>
    <dsp:sp modelId="{93D5D663-A0C9-4282-9C85-F9319D1FF20A}">
      <dsp:nvSpPr>
        <dsp:cNvPr id="0" name=""/>
        <dsp:cNvSpPr/>
      </dsp:nvSpPr>
      <dsp:spPr>
        <a:xfrm>
          <a:off x="5638232" y="613771"/>
          <a:ext cx="962257" cy="962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2F7FA0-E44E-4E19-9DB8-603725E43922}">
      <dsp:nvSpPr>
        <dsp:cNvPr id="0" name=""/>
        <dsp:cNvSpPr/>
      </dsp:nvSpPr>
      <dsp:spPr>
        <a:xfrm>
          <a:off x="5050186" y="2006048"/>
          <a:ext cx="2138350" cy="14736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en-US" sz="1100" kern="1200" dirty="0"/>
            <a:t>Efficiency metrics help identify undervalued players who score effectively with fewer attempts. These players may not score as much but are effective when used and could likely cost less for teams to sign. These could be developing stars that do not yet dominate their teams but play well.</a:t>
          </a:r>
        </a:p>
      </dsp:txBody>
      <dsp:txXfrm>
        <a:off x="5050186" y="2006048"/>
        <a:ext cx="2138350" cy="14736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F44C7C-9C5D-460C-9B61-035CA3FFAB19}" type="datetimeFigureOut">
              <a:rPr lang="en-US" smtClean="0"/>
              <a:t>3/15/2026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5A13B-084A-4DBE-A82C-77B4AEE4972C}" type="slidenum">
              <a:rPr lang="en-US" smtClean="0"/>
              <a:t>‹#›</a:t>
            </a:fld>
            <a:endParaRPr lang="en-US"/>
          </a:p>
        </p:txBody>
      </p:sp>
    </p:spTree>
    <p:extLst>
      <p:ext uri="{BB962C8B-B14F-4D97-AF65-F5344CB8AC3E}">
        <p14:creationId xmlns:p14="http://schemas.microsoft.com/office/powerpoint/2010/main" val="2342619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1015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87465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6330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0897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6355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925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6054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92544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3313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5977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48395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37781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698273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2092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762112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74726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3/15/2026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2905312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nba.com/stats"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NBA Player Scoring Analysis</a:t>
            </a:r>
          </a:p>
        </p:txBody>
      </p:sp>
      <p:sp>
        <p:nvSpPr>
          <p:cNvPr id="3" name="Content Placeholder 2"/>
          <p:cNvSpPr>
            <a:spLocks noGrp="1"/>
          </p:cNvSpPr>
          <p:nvPr>
            <p:ph idx="1"/>
          </p:nvPr>
        </p:nvSpPr>
        <p:spPr/>
        <p:txBody>
          <a:bodyPr/>
          <a:lstStyle/>
          <a:p>
            <a:r>
              <a:rPr dirty="0"/>
              <a:t>Maxwell Davis</a:t>
            </a:r>
          </a:p>
          <a:p>
            <a:r>
              <a:rPr dirty="0"/>
              <a:t>BSAN 360-001</a:t>
            </a:r>
          </a:p>
          <a:p>
            <a:r>
              <a:rPr lang="en-US" dirty="0"/>
              <a:t>Due </a:t>
            </a:r>
            <a:r>
              <a:rPr dirty="0"/>
              <a:t>Date: March</a:t>
            </a:r>
            <a:r>
              <a:rPr lang="en-US" dirty="0"/>
              <a:t> 20</a:t>
            </a:r>
            <a:r>
              <a:rPr lang="en-US" baseline="30000" dirty="0"/>
              <a:t>th</a:t>
            </a:r>
            <a:r>
              <a:rPr lang="en-US" dirty="0"/>
              <a:t>,</a:t>
            </a:r>
            <a:r>
              <a:rPr dirty="0"/>
              <a:t> 2026</a:t>
            </a:r>
          </a:p>
          <a:p>
            <a:r>
              <a:rPr dirty="0"/>
              <a:t>GitHub Repository: INSERT LINK HERE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nalog board showing flight information">
            <a:extLst>
              <a:ext uri="{FF2B5EF4-FFF2-40B4-BE49-F238E27FC236}">
                <a16:creationId xmlns:a16="http://schemas.microsoft.com/office/drawing/2014/main" id="{40FA1C50-E9DC-4F98-2C05-9C24DF99E14E}"/>
              </a:ext>
            </a:extLst>
          </p:cNvPr>
          <p:cNvPicPr>
            <a:picLocks noChangeAspect="1"/>
          </p:cNvPicPr>
          <p:nvPr/>
        </p:nvPicPr>
        <p:blipFill>
          <a:blip r:embed="rId2"/>
          <a:srcRect l="19348" r="22820" b="-2"/>
          <a:stretch>
            <a:fillRect/>
          </a:stretch>
        </p:blipFill>
        <p:spPr>
          <a:xfrm>
            <a:off x="3202390" y="-1"/>
            <a:ext cx="5941610"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p:cNvSpPr>
            <a:spLocks noGrp="1"/>
          </p:cNvSpPr>
          <p:nvPr>
            <p:ph type="title"/>
          </p:nvPr>
        </p:nvSpPr>
        <p:spPr>
          <a:xfrm>
            <a:off x="507999" y="609600"/>
            <a:ext cx="2888343" cy="1320800"/>
          </a:xfrm>
        </p:spPr>
        <p:txBody>
          <a:bodyPr>
            <a:normAutofit/>
          </a:bodyPr>
          <a:lstStyle/>
          <a:p>
            <a:r>
              <a:t>Dataset Overview</a:t>
            </a:r>
          </a:p>
        </p:txBody>
      </p:sp>
      <p:sp>
        <p:nvSpPr>
          <p:cNvPr id="3" name="Content Placeholder 2"/>
          <p:cNvSpPr>
            <a:spLocks noGrp="1"/>
          </p:cNvSpPr>
          <p:nvPr>
            <p:ph idx="1"/>
          </p:nvPr>
        </p:nvSpPr>
        <p:spPr>
          <a:xfrm>
            <a:off x="507999" y="2160589"/>
            <a:ext cx="2982259" cy="3880773"/>
          </a:xfrm>
        </p:spPr>
        <p:txBody>
          <a:bodyPr>
            <a:normAutofit fontScale="92500" lnSpcReduction="20000"/>
          </a:bodyPr>
          <a:lstStyle/>
          <a:p>
            <a:pPr>
              <a:lnSpc>
                <a:spcPct val="90000"/>
              </a:lnSpc>
            </a:pPr>
            <a:r>
              <a:rPr dirty="0"/>
              <a:t>Dataset: NBA Player Statistics</a:t>
            </a:r>
            <a:endParaRPr lang="en-US" dirty="0"/>
          </a:p>
          <a:p>
            <a:pPr>
              <a:lnSpc>
                <a:spcPct val="90000"/>
              </a:lnSpc>
            </a:pPr>
            <a:r>
              <a:rPr dirty="0"/>
              <a:t>Source: Kaggle NBA Player Stats Dataset</a:t>
            </a:r>
            <a:endParaRPr lang="en-US" dirty="0"/>
          </a:p>
          <a:p>
            <a:pPr>
              <a:lnSpc>
                <a:spcPct val="90000"/>
              </a:lnSpc>
            </a:pPr>
            <a:r>
              <a:rPr lang="en-US" dirty="0">
                <a:hlinkClick r:id="rId3"/>
              </a:rPr>
              <a:t>https://www.nba.com/stats</a:t>
            </a:r>
            <a:endParaRPr lang="en-US" dirty="0"/>
          </a:p>
          <a:p>
            <a:pPr>
              <a:lnSpc>
                <a:spcPct val="90000"/>
              </a:lnSpc>
            </a:pPr>
            <a:r>
              <a:rPr dirty="0"/>
              <a:t>Contains player performance metrics including games played, minutes, field goals, attempts, and points</a:t>
            </a:r>
            <a:r>
              <a:rPr lang="en-US" dirty="0"/>
              <a:t> (Pretty straightforward)</a:t>
            </a:r>
            <a:r>
              <a:rPr dirty="0"/>
              <a:t>.</a:t>
            </a:r>
            <a:endParaRPr lang="en-US" dirty="0"/>
          </a:p>
          <a:p>
            <a:pPr>
              <a:lnSpc>
                <a:spcPct val="90000"/>
              </a:lnSpc>
            </a:pPr>
            <a:r>
              <a:rPr dirty="0"/>
              <a:t>Used to analyze scoring drivers in the NBA</a:t>
            </a:r>
            <a:r>
              <a:rPr lang="en-US" dirty="0"/>
              <a:t>, and whether players with larger roles and confidence from coaches are more efficient.</a:t>
            </a:r>
          </a:p>
        </p:txBody>
      </p:sp>
      <p:cxnSp>
        <p:nvCxnSpPr>
          <p:cNvPr id="9" name="Straight Connector 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28259" y="0"/>
            <a:ext cx="9144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68950" y="3681413"/>
            <a:ext cx="357266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2ED567-06B3-4107-9773-BBB6BD786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08000" y="1253067"/>
            <a:ext cx="4616450" cy="4351866"/>
          </a:xfrm>
        </p:spPr>
        <p:txBody>
          <a:bodyPr anchor="ctr">
            <a:normAutofit/>
          </a:bodyPr>
          <a:lstStyle/>
          <a:p>
            <a:r>
              <a:t>Observations: NBA players from 2023 season</a:t>
            </a:r>
          </a:p>
          <a:p>
            <a:r>
              <a:t>Key variables:</a:t>
            </a:r>
          </a:p>
          <a:p>
            <a:r>
              <a:t>• PTS – total points scored</a:t>
            </a:r>
          </a:p>
          <a:p>
            <a:r>
              <a:t>• FGA – field goal attempts</a:t>
            </a:r>
          </a:p>
          <a:p>
            <a:r>
              <a:t>• FG% – shooting efficiency</a:t>
            </a:r>
          </a:p>
          <a:p>
            <a:r>
              <a:t>• GP – games played</a:t>
            </a:r>
          </a:p>
          <a:p>
            <a:r>
              <a:t>• Min – minutes played</a:t>
            </a:r>
          </a:p>
          <a:p>
            <a:r>
              <a:t>• Position grouping: BIG vs SMALL</a:t>
            </a:r>
          </a:p>
        </p:txBody>
      </p:sp>
      <p:sp>
        <p:nvSpPr>
          <p:cNvPr id="10" name="Rectangle 9">
            <a:extLst>
              <a:ext uri="{FF2B5EF4-FFF2-40B4-BE49-F238E27FC236}">
                <a16:creationId xmlns:a16="http://schemas.microsoft.com/office/drawing/2014/main" id="{AF551D8B-3775-4477-88B7-7B7C350D3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0992" y="0"/>
            <a:ext cx="3493008"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12" name="Straight Connector 11">
            <a:extLst>
              <a:ext uri="{FF2B5EF4-FFF2-40B4-BE49-F238E27FC236}">
                <a16:creationId xmlns:a16="http://schemas.microsoft.com/office/drawing/2014/main" id="{1A901C3D-CFAE-460D-BD0E-7D22164D7D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942659" y="0"/>
            <a:ext cx="794940" cy="6858000"/>
          </a:xfrm>
          <a:prstGeom prst="line">
            <a:avLst/>
          </a:prstGeom>
          <a:ln w="9525">
            <a:solidFill>
              <a:srgbClr val="BFBFBF">
                <a:alpha val="70000"/>
              </a:srgb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37C0EA9-1437-4437-9D20-2BBDA1AA9F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791200" y="3721395"/>
            <a:ext cx="3259170" cy="3136604"/>
          </a:xfrm>
          <a:prstGeom prst="line">
            <a:avLst/>
          </a:prstGeom>
          <a:ln w="9525">
            <a:solidFill>
              <a:srgbClr val="BFBFBF">
                <a:alpha val="69804"/>
              </a:srgb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BB934D2B-85E2-4375-94EE-B66C16BF79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107" y="-8467"/>
            <a:ext cx="2255511"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9B445E02-D785-4565-B842-9567BBC09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2581"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2C153736-D102-4F57-9DE7-615AFC02B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9249" y="3048000"/>
            <a:ext cx="2444751"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BA407A52-66F4-4CDE-A726-FF79F3EC34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00875"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8">
            <a:extLst>
              <a:ext uri="{FF2B5EF4-FFF2-40B4-BE49-F238E27FC236}">
                <a16:creationId xmlns:a16="http://schemas.microsoft.com/office/drawing/2014/main" id="{D28FFB34-4FC3-46F5-B900-D3B774FD0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74047" y="-8467"/>
            <a:ext cx="967571"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a:extLst>
              <a:ext uri="{FF2B5EF4-FFF2-40B4-BE49-F238E27FC236}">
                <a16:creationId xmlns:a16="http://schemas.microsoft.com/office/drawing/2014/main" id="{205F7B13-ACB5-46BE-8070-0431266B1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4249" y="-8467"/>
            <a:ext cx="937369"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a:extLst>
              <a:ext uri="{FF2B5EF4-FFF2-40B4-BE49-F238E27FC236}">
                <a16:creationId xmlns:a16="http://schemas.microsoft.com/office/drawing/2014/main" id="{D52A0D23-45DD-4DF4-ADE6-A81F409BB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78749" y="3589867"/>
            <a:ext cx="136286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872243" y="1253067"/>
            <a:ext cx="2528807" cy="4351866"/>
          </a:xfrm>
        </p:spPr>
        <p:txBody>
          <a:bodyPr anchor="ctr">
            <a:normAutofit/>
          </a:bodyPr>
          <a:lstStyle/>
          <a:p>
            <a:r>
              <a:rPr lang="en-US">
                <a:solidFill>
                  <a:schemeClr val="bg1"/>
                </a:solidFill>
              </a:rPr>
              <a:t>Dataset Size &amp; Key Variables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t>Descriptive Statistics</a:t>
            </a:r>
          </a:p>
        </p:txBody>
      </p:sp>
      <p:sp>
        <p:nvSpPr>
          <p:cNvPr id="3" name="Content Placeholder 2"/>
          <p:cNvSpPr>
            <a:spLocks noGrp="1"/>
          </p:cNvSpPr>
          <p:nvPr>
            <p:ph idx="1"/>
          </p:nvPr>
        </p:nvSpPr>
        <p:spPr>
          <a:xfrm>
            <a:off x="3907172" y="2160589"/>
            <a:ext cx="3048329" cy="3880773"/>
          </a:xfrm>
        </p:spPr>
        <p:txBody>
          <a:bodyPr>
            <a:normAutofit/>
          </a:bodyPr>
          <a:lstStyle/>
          <a:p>
            <a:pPr>
              <a:lnSpc>
                <a:spcPct val="90000"/>
              </a:lnSpc>
            </a:pPr>
            <a:r>
              <a:t>Initial exploration checked ranges and missing values.</a:t>
            </a:r>
            <a:endParaRPr lang="en-US"/>
          </a:p>
          <a:p>
            <a:pPr>
              <a:lnSpc>
                <a:spcPct val="90000"/>
              </a:lnSpc>
            </a:pPr>
            <a:r>
              <a:t>FG% ranges between 0 and 1.</a:t>
            </a:r>
            <a:endParaRPr lang="en-US"/>
          </a:p>
          <a:p>
            <a:pPr>
              <a:lnSpc>
                <a:spcPct val="90000"/>
              </a:lnSpc>
            </a:pPr>
            <a:r>
              <a:t>Games played ranges between 0 and 82.</a:t>
            </a:r>
            <a:endParaRPr lang="en-US"/>
          </a:p>
          <a:p>
            <a:pPr>
              <a:lnSpc>
                <a:spcPct val="90000"/>
              </a:lnSpc>
            </a:pPr>
            <a:r>
              <a:t>Points and attempts fall within realistic NBA performance ranges.</a:t>
            </a:r>
            <a:endParaRPr lang="en-US"/>
          </a:p>
          <a:p>
            <a:pPr>
              <a:lnSpc>
                <a:spcPct val="90000"/>
              </a:lnSpc>
            </a:pPr>
            <a:r>
              <a:t>Missing values in critical variables were removed.</a:t>
            </a:r>
            <a:endParaRPr lang="en-US"/>
          </a:p>
        </p:txBody>
      </p:sp>
      <p:pic>
        <p:nvPicPr>
          <p:cNvPr id="5" name="Picture 4" descr="Aerial view of a playing court">
            <a:extLst>
              <a:ext uri="{FF2B5EF4-FFF2-40B4-BE49-F238E27FC236}">
                <a16:creationId xmlns:a16="http://schemas.microsoft.com/office/drawing/2014/main" id="{15FF8C3B-C081-075B-AE55-11CA38EF4E57}"/>
              </a:ext>
            </a:extLst>
          </p:cNvPr>
          <p:cNvPicPr>
            <a:picLocks noChangeAspect="1"/>
          </p:cNvPicPr>
          <p:nvPr/>
        </p:nvPicPr>
        <p:blipFill>
          <a:blip r:embed="rId2"/>
          <a:srcRect l="25000" r="30750"/>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82962" y="1179151"/>
            <a:ext cx="2475485" cy="4463889"/>
          </a:xfrm>
        </p:spPr>
        <p:txBody>
          <a:bodyPr anchor="ctr">
            <a:normAutofit/>
          </a:bodyPr>
          <a:lstStyle/>
          <a:p>
            <a:r>
              <a:t>Research Questions</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336549"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2502"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3734188" y="1109145"/>
            <a:ext cx="4755762" cy="4603900"/>
          </a:xfrm>
        </p:spPr>
        <p:txBody>
          <a:bodyPr anchor="ctr">
            <a:normAutofit/>
          </a:bodyPr>
          <a:lstStyle/>
          <a:p>
            <a:r>
              <a:t>1. How strongly does shot volume (FGA) influence scoring?</a:t>
            </a:r>
          </a:p>
          <a:p>
            <a:r>
              <a:t>2. Does shooting efficiency (FG%) significantly impact points scored?</a:t>
            </a:r>
          </a:p>
          <a:p>
            <a:r>
              <a:t>3. Do BIG and SMALL players differ in scoring efficiency?</a:t>
            </a:r>
          </a:p>
          <a:p>
            <a:r>
              <a:t>4. Are high-volume shooters more or less efficient than low-volume shooters?</a:t>
            </a:r>
          </a:p>
          <a:p>
            <a:r>
              <a:t>5. Which variables best predict scoring output?</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523104" y="0"/>
            <a:ext cx="631947"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152550" y="609600"/>
            <a:ext cx="2802951" cy="1320800"/>
          </a:xfrm>
        </p:spPr>
        <p:txBody>
          <a:bodyPr>
            <a:normAutofit/>
          </a:bodyPr>
          <a:lstStyle/>
          <a:p>
            <a:r>
              <a:t>Shot Volume vs Scoring</a:t>
            </a:r>
          </a:p>
        </p:txBody>
      </p:sp>
      <p:sp>
        <p:nvSpPr>
          <p:cNvPr id="3" name="Content Placeholder 2"/>
          <p:cNvSpPr>
            <a:spLocks noGrp="1"/>
          </p:cNvSpPr>
          <p:nvPr>
            <p:ph idx="1"/>
          </p:nvPr>
        </p:nvSpPr>
        <p:spPr>
          <a:xfrm>
            <a:off x="3907172" y="2160589"/>
            <a:ext cx="3048329" cy="3880773"/>
          </a:xfrm>
        </p:spPr>
        <p:txBody>
          <a:bodyPr>
            <a:normAutofit/>
          </a:bodyPr>
          <a:lstStyle/>
          <a:p>
            <a:r>
              <a:t>Scatter analysis shows a strong relationship between field goal attempts and total points.</a:t>
            </a:r>
          </a:p>
          <a:p>
            <a:r>
              <a:t>Players who take more shots generally score more points.</a:t>
            </a:r>
          </a:p>
          <a:p>
            <a:r>
              <a:t>This suggests scoring is heavily driven by offensive opportunity.</a:t>
            </a:r>
          </a:p>
        </p:txBody>
      </p:sp>
      <p:pic>
        <p:nvPicPr>
          <p:cNvPr id="5" name="Picture 4">
            <a:extLst>
              <a:ext uri="{FF2B5EF4-FFF2-40B4-BE49-F238E27FC236}">
                <a16:creationId xmlns:a16="http://schemas.microsoft.com/office/drawing/2014/main" id="{95C4B565-320A-96F3-96B4-401A0E89FE1A}"/>
              </a:ext>
            </a:extLst>
          </p:cNvPr>
          <p:cNvPicPr>
            <a:picLocks noChangeAspect="1"/>
          </p:cNvPicPr>
          <p:nvPr/>
        </p:nvPicPr>
        <p:blipFill>
          <a:blip r:embed="rId2"/>
          <a:srcRect l="15081" r="51732"/>
          <a:stretch>
            <a:fillRect/>
          </a:stretch>
        </p:blipFill>
        <p:spPr>
          <a:xfrm>
            <a:off x="20" y="-1"/>
            <a:ext cx="404620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 name="Picture 5">
            <a:extLst>
              <a:ext uri="{FF2B5EF4-FFF2-40B4-BE49-F238E27FC236}">
                <a16:creationId xmlns:a16="http://schemas.microsoft.com/office/drawing/2014/main" id="{1D6854B9-CE9B-D0C2-F99D-853314B5BDAF}"/>
              </a:ext>
            </a:extLst>
          </p:cNvPr>
          <p:cNvPicPr>
            <a:picLocks noChangeAspect="1"/>
          </p:cNvPicPr>
          <p:nvPr/>
        </p:nvPicPr>
        <p:blipFill>
          <a:blip r:embed="rId3"/>
          <a:stretch>
            <a:fillRect/>
          </a:stretch>
        </p:blipFill>
        <p:spPr>
          <a:xfrm>
            <a:off x="187801" y="2160589"/>
            <a:ext cx="3343336" cy="2672339"/>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lorful pins linked with threads">
            <a:extLst>
              <a:ext uri="{FF2B5EF4-FFF2-40B4-BE49-F238E27FC236}">
                <a16:creationId xmlns:a16="http://schemas.microsoft.com/office/drawing/2014/main" id="{0806AB89-BD87-9833-F445-16E4D9845AE7}"/>
              </a:ext>
            </a:extLst>
          </p:cNvPr>
          <p:cNvPicPr>
            <a:picLocks noChangeAspect="1"/>
          </p:cNvPicPr>
          <p:nvPr/>
        </p:nvPicPr>
        <p:blipFill>
          <a:blip r:embed="rId2">
            <a:duotone>
              <a:prstClr val="black"/>
              <a:schemeClr val="tx2">
                <a:tint val="45000"/>
                <a:satMod val="400000"/>
              </a:schemeClr>
            </a:duotone>
            <a:alphaModFix amt="40000"/>
          </a:blip>
          <a:srcRect l="8684" r="2649"/>
          <a:stretch>
            <a:fillRect/>
          </a:stretch>
        </p:blipFill>
        <p:spPr>
          <a:xfrm>
            <a:off x="20" y="10"/>
            <a:ext cx="9143980" cy="6857990"/>
          </a:xfrm>
          <a:prstGeom prst="rect">
            <a:avLst/>
          </a:prstGeom>
        </p:spPr>
      </p:pic>
      <p:sp>
        <p:nvSpPr>
          <p:cNvPr id="2" name="Title 1"/>
          <p:cNvSpPr>
            <a:spLocks noGrp="1"/>
          </p:cNvSpPr>
          <p:nvPr>
            <p:ph type="title"/>
          </p:nvPr>
        </p:nvSpPr>
        <p:spPr>
          <a:xfrm>
            <a:off x="508000" y="609600"/>
            <a:ext cx="6447501" cy="1320800"/>
          </a:xfrm>
        </p:spPr>
        <p:txBody>
          <a:bodyPr>
            <a:normAutofit/>
          </a:bodyPr>
          <a:lstStyle/>
          <a:p>
            <a:r>
              <a:t>Efficiency Analysis</a:t>
            </a:r>
          </a:p>
        </p:txBody>
      </p:sp>
      <p:sp>
        <p:nvSpPr>
          <p:cNvPr id="3" name="Content Placeholder 2"/>
          <p:cNvSpPr>
            <a:spLocks noGrp="1"/>
          </p:cNvSpPr>
          <p:nvPr>
            <p:ph idx="1"/>
          </p:nvPr>
        </p:nvSpPr>
        <p:spPr>
          <a:xfrm>
            <a:off x="508000" y="2160589"/>
            <a:ext cx="6447501" cy="3880773"/>
          </a:xfrm>
        </p:spPr>
        <p:txBody>
          <a:bodyPr>
            <a:normAutofit/>
          </a:bodyPr>
          <a:lstStyle/>
          <a:p>
            <a:r>
              <a:rPr lang="en-US">
                <a:solidFill>
                  <a:srgbClr val="FFFFFF"/>
                </a:solidFill>
              </a:rPr>
              <a:t>Created a new metric: Points per Shot Attempt.</a:t>
            </a:r>
          </a:p>
          <a:p>
            <a:r>
              <a:rPr lang="en-US">
                <a:solidFill>
                  <a:srgbClr val="FFFFFF"/>
                </a:solidFill>
              </a:rPr>
              <a:t>This measures how efficiently players convert shot attempts into scoring.</a:t>
            </a:r>
          </a:p>
          <a:p>
            <a:r>
              <a:rPr lang="en-US">
                <a:solidFill>
                  <a:srgbClr val="FFFFFF"/>
                </a:solidFill>
              </a:rPr>
              <a:t>BIG vs SMALL comparison shows positional differences in efficiency.</a:t>
            </a:r>
          </a:p>
        </p:txBody>
      </p:sp>
      <p:pic>
        <p:nvPicPr>
          <p:cNvPr id="6" name="Picture 5">
            <a:extLst>
              <a:ext uri="{FF2B5EF4-FFF2-40B4-BE49-F238E27FC236}">
                <a16:creationId xmlns:a16="http://schemas.microsoft.com/office/drawing/2014/main" id="{29900CB9-DD64-D37C-FF06-4D9E281D2041}"/>
              </a:ext>
            </a:extLst>
          </p:cNvPr>
          <p:cNvPicPr>
            <a:picLocks noChangeAspect="1"/>
          </p:cNvPicPr>
          <p:nvPr/>
        </p:nvPicPr>
        <p:blipFill>
          <a:blip r:embed="rId3"/>
          <a:stretch>
            <a:fillRect/>
          </a:stretch>
        </p:blipFill>
        <p:spPr>
          <a:xfrm>
            <a:off x="2783226" y="3930538"/>
            <a:ext cx="3414374" cy="2744557"/>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965032" y="0"/>
            <a:ext cx="9144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599781" y="3681413"/>
            <a:ext cx="3572669"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6"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3473" y="-8467"/>
            <a:ext cx="2255512"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09947" y="-8467"/>
            <a:ext cx="1941419"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6616" y="3048000"/>
            <a:ext cx="2444750"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608241" y="-8467"/>
            <a:ext cx="2140744"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86115" y="3589867"/>
            <a:ext cx="1362870"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title"/>
          </p:nvPr>
        </p:nvSpPr>
        <p:spPr>
          <a:xfrm>
            <a:off x="508000" y="609600"/>
            <a:ext cx="2882531" cy="2566987"/>
          </a:xfrm>
        </p:spPr>
        <p:txBody>
          <a:bodyPr anchor="ctr">
            <a:normAutofit/>
          </a:bodyPr>
          <a:lstStyle/>
          <a:p>
            <a:r>
              <a:rPr lang="en-US" dirty="0">
                <a:solidFill>
                  <a:schemeClr val="tx1">
                    <a:lumMod val="85000"/>
                    <a:lumOff val="15000"/>
                  </a:schemeClr>
                </a:solidFill>
              </a:rPr>
              <a:t>High vs Low Volume Shooters</a:t>
            </a:r>
          </a:p>
        </p:txBody>
      </p:sp>
      <p:sp>
        <p:nvSpPr>
          <p:cNvPr id="26" name="Freeform: Shape 2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11615" y="-8467"/>
            <a:ext cx="5332385"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87063" y="609601"/>
            <a:ext cx="4133472" cy="5175624"/>
          </a:xfrm>
        </p:spPr>
        <p:txBody>
          <a:bodyPr anchor="ctr">
            <a:normAutofit/>
          </a:bodyPr>
          <a:lstStyle/>
          <a:p>
            <a:r>
              <a:rPr lang="en-US">
                <a:solidFill>
                  <a:srgbClr val="FFFFFF"/>
                </a:solidFill>
              </a:rPr>
              <a:t>Players were grouped based on shot attempt volume.</a:t>
            </a:r>
          </a:p>
          <a:p>
            <a:r>
              <a:rPr lang="en-US">
                <a:solidFill>
                  <a:srgbClr val="FFFFFF"/>
                </a:solidFill>
              </a:rPr>
              <a:t>High-volume shooters score more overall points.</a:t>
            </a:r>
          </a:p>
          <a:p>
            <a:r>
              <a:rPr lang="en-US">
                <a:solidFill>
                  <a:srgbClr val="FFFFFF"/>
                </a:solidFill>
              </a:rPr>
              <a:t>However, efficiency does not always increase with volume.</a:t>
            </a:r>
          </a:p>
        </p:txBody>
      </p:sp>
      <p:pic>
        <p:nvPicPr>
          <p:cNvPr id="5" name="Picture 4">
            <a:extLst>
              <a:ext uri="{FF2B5EF4-FFF2-40B4-BE49-F238E27FC236}">
                <a16:creationId xmlns:a16="http://schemas.microsoft.com/office/drawing/2014/main" id="{1C0F09F9-9E21-C330-E181-823FAF199205}"/>
              </a:ext>
            </a:extLst>
          </p:cNvPr>
          <p:cNvPicPr>
            <a:picLocks noChangeAspect="1"/>
          </p:cNvPicPr>
          <p:nvPr/>
        </p:nvPicPr>
        <p:blipFill>
          <a:blip r:embed="rId2"/>
          <a:stretch>
            <a:fillRect/>
          </a:stretch>
        </p:blipFill>
        <p:spPr>
          <a:xfrm>
            <a:off x="228354" y="3048000"/>
            <a:ext cx="3459401" cy="2815561"/>
          </a:xfrm>
          <a:prstGeom prst="rect">
            <a:avLst/>
          </a:prstGeom>
        </p:spPr>
      </p:pic>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266246"/>
            <a:ext cx="7648121" cy="1099457"/>
          </a:xfrm>
        </p:spPr>
        <p:txBody>
          <a:bodyPr>
            <a:normAutofit/>
          </a:bodyPr>
          <a:lstStyle/>
          <a:p>
            <a:r>
              <a:t>Regression Model Results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98425222-3B3F-EBDF-30D0-8331999656F9}"/>
              </a:ext>
            </a:extLst>
          </p:cNvPr>
          <p:cNvGraphicFramePr>
            <a:graphicFrameLocks noGrp="1"/>
          </p:cNvGraphicFramePr>
          <p:nvPr>
            <p:ph idx="1"/>
            <p:extLst>
              <p:ext uri="{D42A27DB-BD31-4B8C-83A1-F6EECF244321}">
                <p14:modId xmlns:p14="http://schemas.microsoft.com/office/powerpoint/2010/main" val="3054171838"/>
              </p:ext>
            </p:extLst>
          </p:nvPr>
        </p:nvGraphicFramePr>
        <p:xfrm>
          <a:off x="965201" y="1115166"/>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a:extLst>
              <a:ext uri="{FF2B5EF4-FFF2-40B4-BE49-F238E27FC236}">
                <a16:creationId xmlns:a16="http://schemas.microsoft.com/office/drawing/2014/main" id="{4A3BFCDF-D918-EC4F-4BB9-2EF8C9E7F652}"/>
              </a:ext>
            </a:extLst>
          </p:cNvPr>
          <p:cNvPicPr>
            <a:picLocks noChangeAspect="1"/>
          </p:cNvPicPr>
          <p:nvPr/>
        </p:nvPicPr>
        <p:blipFill>
          <a:blip r:embed="rId7"/>
          <a:stretch>
            <a:fillRect/>
          </a:stretch>
        </p:blipFill>
        <p:spPr>
          <a:xfrm>
            <a:off x="2604965" y="5400286"/>
            <a:ext cx="4229467" cy="13145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Shot volume is the strongest driver of scoring.</a:t>
            </a:r>
          </a:p>
          <a:p>
            <a:r>
              <a:t>Efficiency matters but opportunity plays a larger role.</a:t>
            </a:r>
          </a:p>
          <a:p>
            <a:r>
              <a:t>Different player positions show varying scoring patterns.</a:t>
            </a:r>
          </a:p>
          <a:p>
            <a:r>
              <a:t>High-volume shooters dominate total scoring output.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65199" y="609600"/>
            <a:ext cx="7648121" cy="1099457"/>
          </a:xfrm>
        </p:spPr>
        <p:txBody>
          <a:bodyPr>
            <a:normAutofit/>
          </a:bodyPr>
          <a:lstStyle/>
          <a:p>
            <a:r>
              <a:t>Conclusion &amp; Recommendations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631947"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07450" y="4013200"/>
            <a:ext cx="336550"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A2090B10-B843-8273-B96D-9C7EAD121EE0}"/>
              </a:ext>
            </a:extLst>
          </p:cNvPr>
          <p:cNvGraphicFramePr>
            <a:graphicFrameLocks noGrp="1"/>
          </p:cNvGraphicFramePr>
          <p:nvPr>
            <p:ph idx="1"/>
            <p:extLst>
              <p:ext uri="{D42A27DB-BD31-4B8C-83A1-F6EECF244321}">
                <p14:modId xmlns:p14="http://schemas.microsoft.com/office/powerpoint/2010/main" val="3940785298"/>
              </p:ext>
            </p:extLst>
          </p:nvPr>
        </p:nvGraphicFramePr>
        <p:xfrm>
          <a:off x="965199" y="1948543"/>
          <a:ext cx="7213600"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27</TotalTime>
  <Words>555</Words>
  <Application>Microsoft Office PowerPoint</Application>
  <PresentationFormat>On-screen Show (4:3)</PresentationFormat>
  <Paragraphs>61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Trebuchet MS</vt:lpstr>
      <vt:lpstr>Wingdings 3</vt:lpstr>
      <vt:lpstr>Facet</vt:lpstr>
      <vt:lpstr>NBA Player Scoring Analysis</vt:lpstr>
      <vt:lpstr>Dataset Overview</vt:lpstr>
      <vt:lpstr>Dataset Size &amp; Key Variables</vt:lpstr>
      <vt:lpstr>Descriptive Statistics</vt:lpstr>
      <vt:lpstr>Research Questions</vt:lpstr>
      <vt:lpstr>Shot Volume vs Scoring</vt:lpstr>
      <vt:lpstr>Efficiency Analysis</vt:lpstr>
      <vt:lpstr>High vs Low Volume Shooters</vt:lpstr>
      <vt:lpstr>Regression Model Results</vt:lpstr>
      <vt:lpstr>Key Insights</vt:lpstr>
      <vt:lpstr>Conclusion &amp; Recommendations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Davis,Maxwell</cp:lastModifiedBy>
  <cp:revision>2</cp:revision>
  <dcterms:created xsi:type="dcterms:W3CDTF">2013-01-27T09:14:16Z</dcterms:created>
  <dcterms:modified xsi:type="dcterms:W3CDTF">2026-03-15T23:20:35Z</dcterms:modified>
  <cp:category/>
</cp:coreProperties>
</file>